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React Tic-Tac-Toe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Beginner-friendly presentation</a:t>
            </a:r>
          </a:p>
          <a:p>
            <a:pPr>
              <a:spcAft>
                <a:spcPts val="1400"/>
              </a:spcAft>
              <a:defRPr sz="2200"/>
            </a:pPr>
            <a:r>
              <a:t>Based on the official React tutorial</a:t>
            </a:r>
          </a:p>
          <a:p>
            <a:pPr>
              <a:spcAft>
                <a:spcPts val="1400"/>
              </a:spcAft>
              <a:defRPr sz="2200"/>
            </a:pPr>
            <a:r>
              <a:t>Goal: understand React by building a 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We Will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 3 × 3 Tic-Tac-Toe game</a:t>
            </a:r>
          </a:p>
          <a:p>
            <a:pPr>
              <a:spcAft>
                <a:spcPts val="1400"/>
              </a:spcAft>
              <a:defRPr sz="2200"/>
            </a:pPr>
            <a:r>
              <a:t>Players take turns: X and O</a:t>
            </a:r>
          </a:p>
          <a:p>
            <a:pPr>
              <a:spcAft>
                <a:spcPts val="1400"/>
              </a:spcAft>
              <a:defRPr sz="2200"/>
            </a:pPr>
            <a:r>
              <a:t>Winner detection</a:t>
            </a:r>
          </a:p>
          <a:p>
            <a:pPr>
              <a:spcAft>
                <a:spcPts val="1400"/>
              </a:spcAft>
              <a:defRPr sz="2200"/>
            </a:pPr>
            <a:r>
              <a:t>Move history / time travel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React Basics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Components — reusable UI pieces</a:t>
            </a:r>
          </a:p>
          <a:p>
            <a:pPr>
              <a:spcAft>
                <a:spcPts val="1400"/>
              </a:spcAft>
              <a:defRPr sz="2200"/>
            </a:pPr>
            <a:r>
              <a:t>JSX — HTML-like syntax inside JavaScript</a:t>
            </a:r>
          </a:p>
          <a:p>
            <a:pPr>
              <a:spcAft>
                <a:spcPts val="1400"/>
              </a:spcAft>
              <a:defRPr sz="2200"/>
            </a:pPr>
            <a:r>
              <a:t>Props — pass data to components</a:t>
            </a:r>
          </a:p>
          <a:p>
            <a:pPr>
              <a:spcAft>
                <a:spcPts val="1400"/>
              </a:spcAft>
              <a:defRPr sz="2200"/>
            </a:pPr>
            <a:r>
              <a:t>State — remember changing data</a:t>
            </a:r>
          </a:p>
          <a:p>
            <a:pPr>
              <a:spcAft>
                <a:spcPts val="1400"/>
              </a:spcAft>
              <a:defRPr sz="2200"/>
            </a:pPr>
            <a:r>
              <a:t>Events — respond to user clicks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1: A React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 component is a JavaScript function that returns UI.</a:t>
            </a:r>
          </a:p>
          <a:p>
            <a:pPr>
              <a:spcAft>
                <a:spcPts val="1400"/>
              </a:spcAft>
              <a:defRPr sz="2200"/>
            </a:pPr>
            <a:r>
              <a:t>Example: Square component</a:t>
            </a:r>
          </a:p>
          <a:p>
            <a:pPr>
              <a:spcAft>
                <a:spcPts val="1400"/>
              </a:spcAft>
              <a:defRPr sz="2200"/>
            </a:pPr>
            <a:r>
              <a:t>export default makes the component available to other files.</a:t>
            </a:r>
          </a:p>
          <a:p>
            <a:pPr>
              <a:spcAft>
                <a:spcPts val="1400"/>
              </a:spcAft>
              <a:defRPr sz="2200"/>
            </a:pPr>
            <a:r>
              <a:t>return gives React the UI to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2: Build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One square is not enough.</a:t>
            </a:r>
          </a:p>
          <a:p>
            <a:pPr>
              <a:spcAft>
                <a:spcPts val="1400"/>
              </a:spcAft>
              <a:defRPr sz="2200"/>
            </a:pPr>
            <a:r>
              <a:t>Create 9 squares.</a:t>
            </a:r>
          </a:p>
          <a:p>
            <a:pPr>
              <a:spcAft>
                <a:spcPts val="1400"/>
              </a:spcAft>
              <a:defRPr sz="2200"/>
            </a:pPr>
            <a:r>
              <a:t>Group them into 3 rows using &lt;div&gt;.</a:t>
            </a:r>
          </a:p>
          <a:p>
            <a:pPr>
              <a:spcAft>
                <a:spcPts val="1400"/>
              </a:spcAft>
              <a:defRPr sz="2200"/>
            </a:pPr>
            <a:r>
              <a:t>Use className to connect JSX with CSS.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3: Reusable Square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Instead of writing the same button 9 times, create Square.</a:t>
            </a:r>
          </a:p>
          <a:p>
            <a:pPr>
              <a:spcAft>
                <a:spcPts val="1400"/>
              </a:spcAft>
              <a:defRPr sz="2200"/>
            </a:pPr>
            <a:r>
              <a:t>Board can render &lt;Square /&gt; repeatedly.</a:t>
            </a:r>
          </a:p>
          <a:p>
            <a:pPr>
              <a:spcAft>
                <a:spcPts val="1400"/>
              </a:spcAft>
              <a:defRPr sz="2200"/>
            </a:pPr>
            <a:r>
              <a:t>Component names start with capital letters.</a:t>
            </a:r>
          </a:p>
          <a:p>
            <a:pPr>
              <a:spcAft>
                <a:spcPts val="1400"/>
              </a:spcAft>
              <a:defRPr sz="2200"/>
            </a:pPr>
            <a:r>
              <a:t>This avoids duplicated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4: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Props let a parent component send data to a child.</a:t>
            </a:r>
          </a:p>
          <a:p>
            <a:pPr>
              <a:spcAft>
                <a:spcPts val="1400"/>
              </a:spcAft>
              <a:defRPr sz="2200"/>
            </a:pPr>
            <a:r>
              <a:t>Example: &lt;Square value="1" /&gt;</a:t>
            </a:r>
          </a:p>
          <a:p>
            <a:pPr>
              <a:spcAft>
                <a:spcPts val="1400"/>
              </a:spcAft>
              <a:defRPr sz="2200"/>
            </a:pPr>
            <a:r>
              <a:t>Inside Square: function Square({ value })</a:t>
            </a:r>
          </a:p>
          <a:p>
            <a:pPr>
              <a:spcAft>
                <a:spcPts val="1400"/>
              </a:spcAft>
              <a:defRPr sz="2200"/>
            </a:pPr>
            <a:r>
              <a:t>Use {value} in JSX to display the JavaScript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5: Handle Clicks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React event handlers respond to user actions.</a:t>
            </a:r>
          </a:p>
          <a:p>
            <a:pPr>
              <a:spcAft>
                <a:spcPts val="1400"/>
              </a:spcAft>
              <a:defRPr sz="2200"/>
            </a:pPr>
            <a:r>
              <a:t>Use onClick={handleClick}.</a:t>
            </a:r>
          </a:p>
          <a:p>
            <a:pPr>
              <a:spcAft>
                <a:spcPts val="1400"/>
              </a:spcAft>
              <a:defRPr sz="2200"/>
            </a:pPr>
            <a:r>
              <a:t>handleClick runs when a square is clicked.</a:t>
            </a:r>
          </a:p>
          <a:p>
            <a:pPr>
              <a:spcAft>
                <a:spcPts val="1400"/>
              </a:spcAft>
              <a:defRPr sz="2200"/>
            </a:pPr>
            <a:r>
              <a:t>This makes the UI interactive.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6: State with useState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State lets a component remember information.</a:t>
            </a:r>
          </a:p>
          <a:p>
            <a:pPr>
              <a:spcAft>
                <a:spcPts val="1400"/>
              </a:spcAft>
              <a:defRPr sz="2200"/>
            </a:pPr>
            <a:r>
              <a:t>const [value, setValue] = useState(null);</a:t>
            </a:r>
          </a:p>
          <a:p>
            <a:pPr>
              <a:spcAft>
                <a:spcPts val="1400"/>
              </a:spcAft>
              <a:defRPr sz="2200"/>
            </a:pPr>
            <a:r>
              <a:t>value = current state</a:t>
            </a:r>
          </a:p>
          <a:p>
            <a:pPr>
              <a:spcAft>
                <a:spcPts val="1400"/>
              </a:spcAft>
              <a:defRPr sz="2200"/>
            </a:pPr>
            <a:r>
              <a:t>setValue = function that changes state</a:t>
            </a:r>
          </a:p>
          <a:p>
            <a:pPr>
              <a:spcAft>
                <a:spcPts val="1400"/>
              </a:spcAft>
              <a:defRPr sz="2200"/>
            </a:pPr>
            <a:r>
              <a:t>Clicking can call setValue('X').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State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Each Square can have its own state.</a:t>
            </a:r>
          </a:p>
          <a:p>
            <a:pPr>
              <a:spcAft>
                <a:spcPts val="1400"/>
              </a:spcAft>
              <a:defRPr sz="2200"/>
            </a:pPr>
            <a:r>
              <a:t>React re-renders the component after state changes.</a:t>
            </a:r>
          </a:p>
          <a:p>
            <a:pPr>
              <a:spcAft>
                <a:spcPts val="1400"/>
              </a:spcAft>
              <a:defRPr sz="2200"/>
            </a:pPr>
            <a:r>
              <a:t>The screen updates automatically.</a:t>
            </a:r>
          </a:p>
          <a:p>
            <a:pPr>
              <a:spcAft>
                <a:spcPts val="1400"/>
              </a:spcAft>
              <a:defRPr sz="2200"/>
            </a:pPr>
            <a:r>
              <a:t>This is one of the most important React ideas.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7: Lift State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For a real game, the Board needs to know all squares.</a:t>
            </a:r>
          </a:p>
          <a:p>
            <a:pPr>
              <a:spcAft>
                <a:spcPts val="1400"/>
              </a:spcAft>
              <a:defRPr sz="2200"/>
            </a:pPr>
            <a:r>
              <a:t>Move the game state from individual Squares to Board.</a:t>
            </a:r>
          </a:p>
          <a:p>
            <a:pPr>
              <a:spcAft>
                <a:spcPts val="1400"/>
              </a:spcAft>
              <a:defRPr sz="2200"/>
            </a:pPr>
            <a:r>
              <a:t>Board becomes the single source of truth.</a:t>
            </a:r>
          </a:p>
          <a:p>
            <a:pPr>
              <a:spcAft>
                <a:spcPts val="1400"/>
              </a:spcAft>
              <a:defRPr sz="2200"/>
            </a:pPr>
            <a:r>
              <a:t>Pass data and click handlers down through props.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8: Game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Track whose turn it is: X or O.</a:t>
            </a:r>
          </a:p>
          <a:p>
            <a:pPr>
              <a:spcAft>
                <a:spcPts val="1400"/>
              </a:spcAft>
              <a:defRPr sz="2200"/>
            </a:pPr>
            <a:r>
              <a:t>Ignore clicks on occupied squares.</a:t>
            </a:r>
          </a:p>
          <a:p>
            <a:pPr>
              <a:spcAft>
                <a:spcPts val="1400"/>
              </a:spcAft>
              <a:defRPr sz="2200"/>
            </a:pPr>
            <a:r>
              <a:t>Create a calculateWinner function.</a:t>
            </a:r>
          </a:p>
          <a:p>
            <a:pPr>
              <a:spcAft>
                <a:spcPts val="1400"/>
              </a:spcAft>
              <a:defRPr sz="2200"/>
            </a:pPr>
            <a:r>
              <a:t>Check rows, columns, and diagonals.</a:t>
            </a:r>
          </a:p>
          <a:p>
            <a:pPr>
              <a:spcAft>
                <a:spcPts val="1400"/>
              </a:spcAft>
              <a:defRPr sz="2200"/>
            </a:pPr>
            <a:r>
              <a:t>Show the winner or next player.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9: Game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Store previous board states in an array.</a:t>
            </a:r>
          </a:p>
          <a:p>
            <a:pPr>
              <a:spcAft>
                <a:spcPts val="1400"/>
              </a:spcAft>
              <a:defRPr sz="2200"/>
            </a:pPr>
            <a:r>
              <a:t>currentMove tells us which board is displayed.</a:t>
            </a:r>
          </a:p>
          <a:p>
            <a:pPr>
              <a:spcAft>
                <a:spcPts val="1400"/>
              </a:spcAft>
              <a:defRPr sz="2200"/>
            </a:pPr>
            <a:r>
              <a:t>Every move creates a new history entry.</a:t>
            </a:r>
          </a:p>
          <a:p>
            <a:pPr>
              <a:spcAft>
                <a:spcPts val="1400"/>
              </a:spcAft>
              <a:defRPr sz="2200"/>
            </a:pPr>
            <a:r>
              <a:t>This makes time travel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10: Jump to Earlier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Create buttons for each move.</a:t>
            </a:r>
          </a:p>
          <a:p>
            <a:pPr>
              <a:spcAft>
                <a:spcPts val="1400"/>
              </a:spcAft>
              <a:defRPr sz="2200"/>
            </a:pPr>
            <a:r>
              <a:t>jumpTo(move) changes currentMove.</a:t>
            </a:r>
          </a:p>
          <a:p>
            <a:pPr>
              <a:spcAft>
                <a:spcPts val="1400"/>
              </a:spcAft>
              <a:defRPr sz="2200"/>
            </a:pPr>
            <a:r>
              <a:t>The board displays the selected historical state.</a:t>
            </a:r>
          </a:p>
          <a:p>
            <a:pPr>
              <a:spcAft>
                <a:spcPts val="1400"/>
              </a:spcAft>
              <a:defRPr sz="2200"/>
            </a:pPr>
            <a:r>
              <a:t>This demonstrates why immutable state is useful.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React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Components</a:t>
            </a:r>
          </a:p>
          <a:p>
            <a:pPr>
              <a:spcAft>
                <a:spcPts val="1400"/>
              </a:spcAft>
              <a:defRPr sz="2200"/>
            </a:pPr>
            <a:r>
              <a:t>Props</a:t>
            </a:r>
          </a:p>
          <a:p>
            <a:pPr>
              <a:spcAft>
                <a:spcPts val="1400"/>
              </a:spcAft>
              <a:defRPr sz="2200"/>
            </a:pPr>
            <a:r>
              <a:t>State and useState</a:t>
            </a:r>
          </a:p>
          <a:p>
            <a:pPr>
              <a:spcAft>
                <a:spcPts val="1400"/>
              </a:spcAft>
              <a:defRPr sz="2200"/>
            </a:pPr>
            <a:r>
              <a:t>Event handling</a:t>
            </a:r>
          </a:p>
          <a:p>
            <a:pPr>
              <a:spcAft>
                <a:spcPts val="1400"/>
              </a:spcAft>
              <a:defRPr sz="2200"/>
            </a:pPr>
            <a:r>
              <a:t>Sharing state between components</a:t>
            </a:r>
          </a:p>
          <a:p>
            <a:pPr>
              <a:spcAft>
                <a:spcPts val="1400"/>
              </a:spcAft>
              <a:defRPr sz="2200"/>
            </a:pPr>
            <a:r>
              <a:t>Rendering lists</a:t>
            </a:r>
          </a:p>
          <a:p>
            <a:pPr>
              <a:spcAft>
                <a:spcPts val="1400"/>
              </a:spcAft>
              <a:defRPr sz="2200"/>
            </a:pPr>
            <a:r>
              <a:t>Immutability and 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Beginner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First: make one square show X when clicked.</a:t>
            </a:r>
          </a:p>
          <a:p>
            <a:pPr>
              <a:spcAft>
                <a:spcPts val="1400"/>
              </a:spcAft>
              <a:defRPr sz="2200"/>
            </a:pPr>
            <a:r>
              <a:t>Next: build the 3 × 3 board.</a:t>
            </a:r>
          </a:p>
          <a:p>
            <a:pPr>
              <a:spcAft>
                <a:spcPts val="1400"/>
              </a:spcAft>
              <a:defRPr sz="2200"/>
            </a:pPr>
            <a:r>
              <a:t>Then: make X and O alternate.</a:t>
            </a:r>
          </a:p>
          <a:p>
            <a:pPr>
              <a:spcAft>
                <a:spcPts val="1400"/>
              </a:spcAft>
              <a:defRPr sz="2200"/>
            </a:pPr>
            <a:r>
              <a:t>Finally: add winner detection and history.</a:t>
            </a:r>
          </a:p>
          <a:p>
            <a:pPr>
              <a:spcAft>
                <a:spcPts val="1400"/>
              </a:spcAft>
              <a:defRPr sz="2200"/>
            </a:pPr>
            <a:r>
              <a:t>Type the code yourself at least once to learn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Official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React Tic-Tac-Toe Tutorial</a:t>
            </a:r>
          </a:p>
          <a:p>
            <a:pPr>
              <a:spcAft>
                <a:spcPts val="1400"/>
              </a:spcAft>
              <a:defRPr sz="2200"/>
            </a:pPr>
            <a:r>
              <a:t>https://react.dev/learn/tutorial-tic-tac-toe</a:t>
            </a:r>
          </a:p>
          <a:p>
            <a:pPr>
              <a:spcAft>
                <a:spcPts val="1400"/>
              </a:spcAft>
              <a:defRPr sz="2200"/>
            </a:pPr>
            <a:r>
              <a:t>The official tutorial does not assume prior React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